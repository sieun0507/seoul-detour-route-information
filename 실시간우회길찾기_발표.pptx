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FD8"/>
    <a:srgbClr val="FFF4BF"/>
    <a:srgbClr val="DC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92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도시 지도의 로케이터 플래그">
            <a:extLst>
              <a:ext uri="{FF2B5EF4-FFF2-40B4-BE49-F238E27FC236}">
                <a16:creationId xmlns:a16="http://schemas.microsoft.com/office/drawing/2014/main" id="{829DE197-F86E-FB5A-0D04-35315D6D1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52" t="72" r="8"/>
          <a:stretch>
            <a:fillRect/>
          </a:stretch>
        </p:blipFill>
        <p:spPr>
          <a:xfrm flipH="1">
            <a:off x="897" y="2468"/>
            <a:ext cx="5672116" cy="6853064"/>
          </a:xfrm>
          <a:custGeom>
            <a:avLst/>
            <a:gdLst>
              <a:gd name="csX0" fmla="*/ 4254760 w 5672116"/>
              <a:gd name="csY0" fmla="*/ 0 h 6853064"/>
              <a:gd name="csX1" fmla="*/ 0 w 5672116"/>
              <a:gd name="csY1" fmla="*/ 0 h 6853064"/>
              <a:gd name="csX2" fmla="*/ 1417356 w 5672116"/>
              <a:gd name="csY2" fmla="*/ 6853064 h 6853064"/>
              <a:gd name="csX3" fmla="*/ 5672116 w 5672116"/>
              <a:gd name="csY3" fmla="*/ 6853064 h 68530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72116" h="6853064">
                <a:moveTo>
                  <a:pt x="4254760" y="0"/>
                </a:moveTo>
                <a:lnTo>
                  <a:pt x="0" y="0"/>
                </a:lnTo>
                <a:lnTo>
                  <a:pt x="1417356" y="6853064"/>
                </a:lnTo>
                <a:lnTo>
                  <a:pt x="5672116" y="6853064"/>
                </a:lnTo>
                <a:close/>
              </a:path>
            </a:pathLst>
          </a:custGeom>
        </p:spPr>
      </p:pic>
      <p:pic>
        <p:nvPicPr>
          <p:cNvPr id="16" name="그림 15" descr="도시 지도의 로케이터 플래그">
            <a:extLst>
              <a:ext uri="{FF2B5EF4-FFF2-40B4-BE49-F238E27FC236}">
                <a16:creationId xmlns:a16="http://schemas.microsoft.com/office/drawing/2014/main" id="{5265A50A-923A-4497-EE07-7372E9D3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028"/>
          <a:stretch>
            <a:fillRect/>
          </a:stretch>
        </p:blipFill>
        <p:spPr>
          <a:xfrm flipH="1">
            <a:off x="5047861" y="602"/>
            <a:ext cx="7144138" cy="6857399"/>
          </a:xfrm>
          <a:custGeom>
            <a:avLst/>
            <a:gdLst>
              <a:gd name="csX0" fmla="*/ 5692918 w 7094533"/>
              <a:gd name="csY0" fmla="*/ 0 h 6857399"/>
              <a:gd name="csX1" fmla="*/ 0 w 7094533"/>
              <a:gd name="csY1" fmla="*/ 0 h 6857399"/>
              <a:gd name="csX2" fmla="*/ 0 w 7094533"/>
              <a:gd name="csY2" fmla="*/ 6857399 h 6857399"/>
              <a:gd name="csX3" fmla="*/ 7094533 w 7094533"/>
              <a:gd name="csY3" fmla="*/ 6857399 h 6857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94533" h="6857399">
                <a:moveTo>
                  <a:pt x="5692918" y="0"/>
                </a:moveTo>
                <a:lnTo>
                  <a:pt x="0" y="0"/>
                </a:lnTo>
                <a:lnTo>
                  <a:pt x="0" y="6857399"/>
                </a:lnTo>
                <a:lnTo>
                  <a:pt x="7094533" y="6857399"/>
                </a:lnTo>
                <a:close/>
              </a:path>
            </a:pathLst>
          </a:custGeom>
        </p:spPr>
      </p:pic>
      <p:sp>
        <p:nvSpPr>
          <p:cNvPr id="2" name="Text 0"/>
          <p:cNvSpPr txBox="1"/>
          <p:nvPr/>
        </p:nvSpPr>
        <p:spPr>
          <a:xfrm>
            <a:off x="2948474" y="2668554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우회 길찾기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2836506" y="385727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우회와 지하철 무정차를 반영한 서울 대중교통 길찾기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202410927 오시은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60CEFAC0-0E43-17E3-1610-58C0311F055E}"/>
              </a:ext>
            </a:extLst>
          </p:cNvPr>
          <p:cNvSpPr/>
          <p:nvPr/>
        </p:nvSpPr>
        <p:spPr>
          <a:xfrm>
            <a:off x="0" y="280395"/>
            <a:ext cx="2013626" cy="982255"/>
          </a:xfrm>
          <a:custGeom>
            <a:avLst/>
            <a:gdLst>
              <a:gd name="csX0" fmla="*/ 0 w 3200400"/>
              <a:gd name="csY0" fmla="*/ 0 h 982255"/>
              <a:gd name="csX1" fmla="*/ 3086465 w 3200400"/>
              <a:gd name="csY1" fmla="*/ 0 h 982255"/>
              <a:gd name="csX2" fmla="*/ 2595339 w 3200400"/>
              <a:gd name="csY2" fmla="*/ 491126 h 982255"/>
              <a:gd name="csX3" fmla="*/ 3086466 w 3200400"/>
              <a:gd name="csY3" fmla="*/ 982254 h 982255"/>
              <a:gd name="csX4" fmla="*/ 3200400 w 3200400"/>
              <a:gd name="csY4" fmla="*/ 982254 h 982255"/>
              <a:gd name="csX5" fmla="*/ 3200400 w 3200400"/>
              <a:gd name="csY5" fmla="*/ 982255 h 982255"/>
              <a:gd name="csX6" fmla="*/ 0 w 3200400"/>
              <a:gd name="csY6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00400" h="982255">
                <a:moveTo>
                  <a:pt x="0" y="0"/>
                </a:moveTo>
                <a:lnTo>
                  <a:pt x="3086465" y="0"/>
                </a:lnTo>
                <a:lnTo>
                  <a:pt x="2595339" y="491126"/>
                </a:lnTo>
                <a:lnTo>
                  <a:pt x="3086466" y="982254"/>
                </a:lnTo>
                <a:lnTo>
                  <a:pt x="3200400" y="982254"/>
                </a:lnTo>
                <a:lnTo>
                  <a:pt x="3200400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70992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642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제기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642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80720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7614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데이터·사용 API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7614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4–5p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390448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58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858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7240" y="500176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9560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956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46520" y="170992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4652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16642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미정차 추정 방법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16642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265176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446520" y="280720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44652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7614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0424160" y="27614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9–10p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446520" y="390448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44652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223760" y="3858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핸드폰 접속과 시연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424160" y="3858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11–12p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4846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FF4B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446520" y="5001768"/>
            <a:ext cx="548640" cy="54864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44652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49560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한계와 향후 계획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0424160" y="49560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A587AACF-ECE4-D91A-F5C0-34A174365365}"/>
              </a:ext>
            </a:extLst>
          </p:cNvPr>
          <p:cNvSpPr/>
          <p:nvPr/>
        </p:nvSpPr>
        <p:spPr>
          <a:xfrm>
            <a:off x="0" y="280395"/>
            <a:ext cx="3200400" cy="982255"/>
          </a:xfrm>
          <a:custGeom>
            <a:avLst/>
            <a:gdLst>
              <a:gd name="csX0" fmla="*/ 0 w 3200400"/>
              <a:gd name="csY0" fmla="*/ 0 h 982255"/>
              <a:gd name="csX1" fmla="*/ 3086465 w 3200400"/>
              <a:gd name="csY1" fmla="*/ 0 h 982255"/>
              <a:gd name="csX2" fmla="*/ 2595339 w 3200400"/>
              <a:gd name="csY2" fmla="*/ 491126 h 982255"/>
              <a:gd name="csX3" fmla="*/ 3086466 w 3200400"/>
              <a:gd name="csY3" fmla="*/ 982254 h 982255"/>
              <a:gd name="csX4" fmla="*/ 3200400 w 3200400"/>
              <a:gd name="csY4" fmla="*/ 982254 h 982255"/>
              <a:gd name="csX5" fmla="*/ 3200400 w 3200400"/>
              <a:gd name="csY5" fmla="*/ 982255 h 982255"/>
              <a:gd name="csX6" fmla="*/ 0 w 3200400"/>
              <a:gd name="csY6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00400" h="982255">
                <a:moveTo>
                  <a:pt x="0" y="0"/>
                </a:moveTo>
                <a:lnTo>
                  <a:pt x="3086465" y="0"/>
                </a:lnTo>
                <a:lnTo>
                  <a:pt x="2595339" y="491126"/>
                </a:lnTo>
                <a:lnTo>
                  <a:pt x="3086466" y="982254"/>
                </a:lnTo>
                <a:lnTo>
                  <a:pt x="3200400" y="982254"/>
                </a:lnTo>
                <a:lnTo>
                  <a:pt x="3200400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제기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서울의 현실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집회·행사·공사로 </a:t>
            </a:r>
            <a:r>
              <a:rPr lang="en-US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</a:t>
            </a:r>
            <a:r>
              <a:rPr lang="en-US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</a:t>
            </a:r>
            <a:r>
              <a:rPr lang="en-US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지하철 무정차가 자주 발생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dirty="0">
              <a:solidFill>
                <a:srgbClr val="1B254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등하교</a:t>
            </a:r>
            <a:r>
              <a:rPr lang="en-US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때 광화문역을 지나는 상명대 학생에게 특히 불편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길찾기 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974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정류소마다</a:t>
            </a: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무정차 </a:t>
            </a:r>
            <a:r>
              <a:rPr lang="en-US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여부만</a:t>
            </a: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600" dirty="0">
              <a:solidFill>
                <a:srgbClr val="1B254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rgbClr val="1B254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대중교통의</a:t>
            </a:r>
            <a:r>
              <a:rPr lang="en-US" altLang="ko-KR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무정차를</a:t>
            </a:r>
            <a:r>
              <a:rPr lang="en-US" altLang="ko-KR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반영하지</a:t>
            </a:r>
            <a:r>
              <a:rPr lang="en-US" altLang="ko-KR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않고</a:t>
            </a:r>
            <a:r>
              <a:rPr lang="en-US" altLang="ko-KR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</a:t>
            </a:r>
            <a:r>
              <a:rPr lang="en-US" altLang="ko-KR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경로만</a:t>
            </a:r>
            <a:r>
              <a:rPr lang="en-US" altLang="ko-KR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altLang="ko-KR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3210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아쉬운 점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무정차 시간과 우회 경로는 알 수 없음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rgbClr val="1B254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TOPIS 같은 다른 사이트에서 따로 확인해야 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</a:t>
            </a:r>
            <a:r>
              <a:rPr lang="en-US" sz="1800" b="1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</a:t>
            </a:r>
            <a:r>
              <a:rPr lang="en-US" sz="18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경로에 실시간 우회 </a:t>
            </a:r>
            <a:r>
              <a:rPr lang="en-US" sz="1800" b="1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</a:t>
            </a:r>
            <a:r>
              <a:rPr lang="en-US" sz="18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8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반영하는 앱을 만들어보자</a:t>
            </a:r>
            <a:endParaRPr lang="en-US" sz="1800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EA4C122A-68B7-F125-FEE5-848BA4C60B3C}"/>
              </a:ext>
            </a:extLst>
          </p:cNvPr>
          <p:cNvSpPr/>
          <p:nvPr/>
        </p:nvSpPr>
        <p:spPr>
          <a:xfrm>
            <a:off x="691637" y="5549630"/>
            <a:ext cx="389106" cy="330740"/>
          </a:xfrm>
          <a:prstGeom prst="rightArrow">
            <a:avLst/>
          </a:prstGeom>
          <a:solidFill>
            <a:srgbClr val="1F4FD8"/>
          </a:solidFill>
          <a:ln>
            <a:solidFill>
              <a:srgbClr val="1F4F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 descr="핀 있는 지도 단색으로 채워진">
            <a:extLst>
              <a:ext uri="{FF2B5EF4-FFF2-40B4-BE49-F238E27FC236}">
                <a16:creationId xmlns:a16="http://schemas.microsoft.com/office/drawing/2014/main" id="{92DE46A1-C264-18D1-A377-095CEF83A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2415" y="1699415"/>
            <a:ext cx="678024" cy="678024"/>
          </a:xfrm>
          <a:prstGeom prst="rect">
            <a:avLst/>
          </a:prstGeom>
        </p:spPr>
      </p:pic>
      <p:pic>
        <p:nvPicPr>
          <p:cNvPr id="25" name="그래픽 24" descr="컴퍼스 단색으로 채워진">
            <a:extLst>
              <a:ext uri="{FF2B5EF4-FFF2-40B4-BE49-F238E27FC236}">
                <a16:creationId xmlns:a16="http://schemas.microsoft.com/office/drawing/2014/main" id="{F53B9D3A-CC2E-1CEB-48AC-EC9197487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0860" y="1737359"/>
            <a:ext cx="640080" cy="640080"/>
          </a:xfrm>
          <a:prstGeom prst="rect">
            <a:avLst/>
          </a:prstGeom>
        </p:spPr>
      </p:pic>
      <p:pic>
        <p:nvPicPr>
          <p:cNvPr id="27" name="그래픽 26" descr="접착 밴드 단색으로 채워진">
            <a:extLst>
              <a:ext uri="{FF2B5EF4-FFF2-40B4-BE49-F238E27FC236}">
                <a16:creationId xmlns:a16="http://schemas.microsoft.com/office/drawing/2014/main" id="{135F3E98-8D11-1661-6BC0-D0D77F7EF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4119" y="1737359"/>
            <a:ext cx="640081" cy="6400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40AE2DFB-2B36-B1A8-A962-03223B653EE7}"/>
              </a:ext>
            </a:extLst>
          </p:cNvPr>
          <p:cNvSpPr/>
          <p:nvPr/>
        </p:nvSpPr>
        <p:spPr>
          <a:xfrm>
            <a:off x="-1" y="280395"/>
            <a:ext cx="3784061" cy="982255"/>
          </a:xfrm>
          <a:custGeom>
            <a:avLst/>
            <a:gdLst>
              <a:gd name="csX0" fmla="*/ 0 w 5901736"/>
              <a:gd name="csY0" fmla="*/ 0 h 982255"/>
              <a:gd name="csX1" fmla="*/ 5901736 w 5901736"/>
              <a:gd name="csY1" fmla="*/ 0 h 982255"/>
              <a:gd name="csX2" fmla="*/ 5410609 w 5901736"/>
              <a:gd name="csY2" fmla="*/ 491127 h 982255"/>
              <a:gd name="csX3" fmla="*/ 5901736 w 5901736"/>
              <a:gd name="csY3" fmla="*/ 982255 h 982255"/>
              <a:gd name="csX4" fmla="*/ 0 w 5901736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01736" h="982255">
                <a:moveTo>
                  <a:pt x="0" y="0"/>
                </a:moveTo>
                <a:lnTo>
                  <a:pt x="5901736" y="0"/>
                </a:lnTo>
                <a:lnTo>
                  <a:pt x="5410609" y="491127"/>
                </a:lnTo>
                <a:lnTo>
                  <a:pt x="5901736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400" b="1">
                <a:solidFill>
                  <a:srgbClr val="1B2540"/>
                </a:solidFill>
                <a:latin typeface="Pretendard"/>
              </a:rPr>
              <a:t>사용한 API 정리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7623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Pretendard"/>
                        </a:rPr>
                        <a:t>API</a:t>
                      </a:r>
                    </a:p>
                  </a:txBody>
                  <a:tcPr marL="109728" marR="109728" anchor="ctr">
                    <a:solidFill>
                      <a:srgbClr val="1F4F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가져오는 정보</a:t>
                      </a:r>
                    </a:p>
                  </a:txBody>
                  <a:tcPr marL="109728" marR="109728" anchor="ctr">
                    <a:solidFill>
                      <a:srgbClr val="1F4F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</a:rPr>
                        <a:t>사용하는 곳</a:t>
                      </a:r>
                    </a:p>
                  </a:txBody>
                  <a:tcPr marL="109728" marR="109728" anchor="ctr">
                    <a:solidFill>
                      <a:srgbClr val="1F4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B2540"/>
                          </a:solidFill>
                          <a:latin typeface="Pretendard"/>
                        </a:rPr>
                        <a:t>ODsay</a:t>
                      </a:r>
                      <a:r>
                        <a:rPr sz="1400" b="1" dirty="0">
                          <a:solidFill>
                            <a:srgbClr val="1B2540"/>
                          </a:solidFill>
                          <a:latin typeface="Pretendard"/>
                        </a:rPr>
                        <a:t> LAB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대중교통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후보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경로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버스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노선의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정류장과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도로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모양</a:t>
                      </a:r>
                      <a:endParaRPr sz="1400" b="0" dirty="0">
                        <a:solidFill>
                          <a:srgbClr val="1B2540"/>
                        </a:solidFill>
                        <a:latin typeface="Pretendard"/>
                      </a:endParaRP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경로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검색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노선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점검</a:t>
                      </a:r>
                      <a:endParaRPr sz="1400" b="0" dirty="0">
                        <a:solidFill>
                          <a:srgbClr val="1B2540"/>
                        </a:solidFill>
                        <a:latin typeface="Pretendard"/>
                      </a:endParaRP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540"/>
                          </a:solidFill>
                          <a:latin typeface="Pretendard"/>
                        </a:rPr>
                        <a:t>서울시 버스 정류소 도착 정보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실시간 도착, 우회 여부(deTourAt), 첫차·막차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우회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감지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운행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시간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확인</a:t>
                      </a:r>
                      <a:endParaRPr sz="1400" b="0" dirty="0">
                        <a:solidFill>
                          <a:srgbClr val="1B2540"/>
                        </a:solidFill>
                        <a:latin typeface="Pretendard"/>
                      </a:endParaRP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540"/>
                          </a:solidFill>
                          <a:latin typeface="Pretendard"/>
                        </a:rPr>
                        <a:t>서울시 버스 위치 정보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운행 중인 버스의 GPS와 지나간 정류장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노선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이탈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판단</a:t>
                      </a:r>
                      <a:endParaRPr sz="1400" b="0" dirty="0">
                        <a:solidFill>
                          <a:srgbClr val="1B2540"/>
                        </a:solidFill>
                        <a:latin typeface="Pretendard"/>
                      </a:endParaRP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540"/>
                          </a:solidFill>
                          <a:latin typeface="Pretendard"/>
                        </a:rPr>
                        <a:t>서울시 지하철 실시간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열차 위치와 도착 예정 시간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무정차 감지, 대기 시간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540"/>
                          </a:solidFill>
                          <a:latin typeface="Pretendard"/>
                        </a:rPr>
                        <a:t>서울교통공사 첫차·막차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호선·역별 첫차와 막차 시각 (1~9호선)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지하철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운행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종료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판단</a:t>
                      </a:r>
                      <a:endParaRPr sz="1400" b="0" dirty="0">
                        <a:solidFill>
                          <a:srgbClr val="1B2540"/>
                        </a:solidFill>
                        <a:latin typeface="Pretendard"/>
                      </a:endParaRP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540"/>
                          </a:solidFill>
                          <a:latin typeface="Pretendard"/>
                        </a:rPr>
                        <a:t>카카오 로컬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건물명·주소 검색, 좌표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출발지·도착지 입력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540"/>
                          </a:solidFill>
                          <a:latin typeface="Pretendard"/>
                        </a:rPr>
                        <a:t>OpenRouteService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540"/>
                          </a:solidFill>
                          <a:latin typeface="Pretendard"/>
                        </a:rPr>
                        <a:t>실제 걷는 길, 도보 시간과 안내</a:t>
                      </a: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도보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구간</a:t>
                      </a:r>
                      <a:r>
                        <a:rPr sz="1400" b="0" dirty="0">
                          <a:solidFill>
                            <a:srgbClr val="1B2540"/>
                          </a:solidFill>
                          <a:latin typeface="Pretendar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B2540"/>
                          </a:solidFill>
                          <a:latin typeface="Pretendard"/>
                        </a:rPr>
                        <a:t>계산</a:t>
                      </a:r>
                      <a:endParaRPr sz="1400" b="0" dirty="0">
                        <a:solidFill>
                          <a:srgbClr val="1B2540"/>
                        </a:solidFill>
                        <a:latin typeface="Pretendard"/>
                      </a:endParaRPr>
                    </a:p>
                  </a:txBody>
                  <a:tcPr marL="109728" marR="109728" anchor="ctr">
                    <a:solidFill>
                      <a:srgbClr val="DC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3954" y="58521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5B5B6B"/>
                </a:solidFill>
                <a:latin typeface="Pretendard"/>
              </a:rPr>
              <a:t>ODsay·OpenRouteService는 무료 일일 한도가 있어 결과를 저장해 재사용합니다.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>
                <a:solidFill>
                  <a:srgbClr val="5B5B6B"/>
                </a:solidFill>
                <a:latin typeface="Pretendard"/>
              </a:rPr>
              <a:t>4 / 14</a:t>
            </a:r>
          </a:p>
        </p:txBody>
      </p:sp>
      <p:pic>
        <p:nvPicPr>
          <p:cNvPr id="8" name="그래픽 7" descr="정렬 단색으로 채워진">
            <a:extLst>
              <a:ext uri="{FF2B5EF4-FFF2-40B4-BE49-F238E27FC236}">
                <a16:creationId xmlns:a16="http://schemas.microsoft.com/office/drawing/2014/main" id="{D6573FD6-8F12-120B-50FF-78FBDB4E0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2380859" y="4069626"/>
            <a:ext cx="592520" cy="592520"/>
          </a:xfrm>
          <a:prstGeom prst="rect">
            <a:avLst/>
          </a:prstGeom>
        </p:spPr>
      </p:pic>
      <p:pic>
        <p:nvPicPr>
          <p:cNvPr id="10" name="그래픽 9" descr="폴더 검색 단색으로 채워진">
            <a:extLst>
              <a:ext uri="{FF2B5EF4-FFF2-40B4-BE49-F238E27FC236}">
                <a16:creationId xmlns:a16="http://schemas.microsoft.com/office/drawing/2014/main" id="{F040FD91-714A-6841-863D-A90EFB0F0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7914" y="4549570"/>
            <a:ext cx="708230" cy="708230"/>
          </a:xfrm>
          <a:prstGeom prst="rect">
            <a:avLst/>
          </a:prstGeom>
        </p:spPr>
      </p:pic>
      <p:pic>
        <p:nvPicPr>
          <p:cNvPr id="12" name="그래픽 11" descr="걷기 단색으로 채워진">
            <a:extLst>
              <a:ext uri="{FF2B5EF4-FFF2-40B4-BE49-F238E27FC236}">
                <a16:creationId xmlns:a16="http://schemas.microsoft.com/office/drawing/2014/main" id="{78F9F417-42CE-EF3D-3DD9-94E0D5B42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5087461"/>
            <a:ext cx="492567" cy="492567"/>
          </a:xfrm>
          <a:prstGeom prst="rect">
            <a:avLst/>
          </a:prstGeom>
        </p:spPr>
      </p:pic>
      <p:pic>
        <p:nvPicPr>
          <p:cNvPr id="14" name="그래픽 13" descr="시계 단색으로 채워진">
            <a:extLst>
              <a:ext uri="{FF2B5EF4-FFF2-40B4-BE49-F238E27FC236}">
                <a16:creationId xmlns:a16="http://schemas.microsoft.com/office/drawing/2014/main" id="{910664E8-E51A-ED39-73EE-78B9C9F25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4311" y="2535486"/>
            <a:ext cx="625679" cy="625679"/>
          </a:xfrm>
          <a:prstGeom prst="rect">
            <a:avLst/>
          </a:prstGeom>
        </p:spPr>
      </p:pic>
      <p:pic>
        <p:nvPicPr>
          <p:cNvPr id="16" name="그래픽 15" descr="버스 단색으로 채워진">
            <a:extLst>
              <a:ext uri="{FF2B5EF4-FFF2-40B4-BE49-F238E27FC236}">
                <a16:creationId xmlns:a16="http://schemas.microsoft.com/office/drawing/2014/main" id="{C7859F08-416B-F092-6903-F155ED94E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000" y="3047571"/>
            <a:ext cx="592520" cy="592520"/>
          </a:xfrm>
          <a:prstGeom prst="rect">
            <a:avLst/>
          </a:prstGeom>
        </p:spPr>
      </p:pic>
      <p:pic>
        <p:nvPicPr>
          <p:cNvPr id="18" name="그래픽 17" descr="시내 전차 단색으로 채워진">
            <a:extLst>
              <a:ext uri="{FF2B5EF4-FFF2-40B4-BE49-F238E27FC236}">
                <a16:creationId xmlns:a16="http://schemas.microsoft.com/office/drawing/2014/main" id="{1C2AD34B-61DF-C7DE-4AD1-3541782DB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750" y="3586480"/>
            <a:ext cx="592520" cy="592520"/>
          </a:xfrm>
          <a:prstGeom prst="rect">
            <a:avLst/>
          </a:prstGeom>
        </p:spPr>
      </p:pic>
      <p:pic>
        <p:nvPicPr>
          <p:cNvPr id="20" name="그래픽 19" descr="길 단색으로 채워진">
            <a:extLst>
              <a:ext uri="{FF2B5EF4-FFF2-40B4-BE49-F238E27FC236}">
                <a16:creationId xmlns:a16="http://schemas.microsoft.com/office/drawing/2014/main" id="{89FDEF29-61B6-578D-E538-C89A0C5BC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2630" y="1966520"/>
            <a:ext cx="673370" cy="67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D7BE1AD0-F48A-7B46-0AFE-45D4ABA75870}"/>
              </a:ext>
            </a:extLst>
          </p:cNvPr>
          <p:cNvSpPr/>
          <p:nvPr/>
        </p:nvSpPr>
        <p:spPr>
          <a:xfrm>
            <a:off x="0" y="280395"/>
            <a:ext cx="7044327" cy="982255"/>
          </a:xfrm>
          <a:custGeom>
            <a:avLst/>
            <a:gdLst>
              <a:gd name="csX0" fmla="*/ 0 w 7044327"/>
              <a:gd name="csY0" fmla="*/ 0 h 982255"/>
              <a:gd name="csX1" fmla="*/ 7044327 w 7044327"/>
              <a:gd name="csY1" fmla="*/ 0 h 982255"/>
              <a:gd name="csX2" fmla="*/ 6553200 w 7044327"/>
              <a:gd name="csY2" fmla="*/ 491127 h 982255"/>
              <a:gd name="csX3" fmla="*/ 7044327 w 7044327"/>
              <a:gd name="csY3" fmla="*/ 982255 h 982255"/>
              <a:gd name="csX4" fmla="*/ 0 w 7044327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44327" h="982255">
                <a:moveTo>
                  <a:pt x="0" y="0"/>
                </a:moveTo>
                <a:lnTo>
                  <a:pt x="7044327" y="0"/>
                </a:lnTo>
                <a:lnTo>
                  <a:pt x="6553200" y="491127"/>
                </a:lnTo>
                <a:lnTo>
                  <a:pt x="7044327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데이터: 공식 API에 없는 정보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버스 API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노선이 우회 중인지(deTourAt)는 알려 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정류장에 서지 않는지는 알려 주지 않음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지하철 실시간 API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열차 위치와 도착 예정 시간은 알려 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무정차 정보는 없음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TOPIS 공지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68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통제되는 버스·길을 공지로 알려 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자세한 내용은 첨부 파일(이미지)을 열어 봐야 함</a:t>
            </a:r>
            <a:endParaRPr lang="en-US" sz="1600" b="1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운행 중인 버스를 센서로 써서, 공식 데이터에 없는 미정차 </a:t>
            </a:r>
            <a:r>
              <a:rPr lang="en-US" sz="2000" b="1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정류장을</a:t>
            </a: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b="1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</a:t>
            </a: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2000" b="1" dirty="0" err="1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</a:t>
            </a:r>
            <a:r>
              <a:rPr lang="en-US" sz="2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경로까지 연결할 수 있을까?</a:t>
            </a:r>
            <a:endParaRPr lang="en-US" sz="2000" dirty="0"/>
          </a:p>
        </p:txBody>
      </p:sp>
      <p:pic>
        <p:nvPicPr>
          <p:cNvPr id="17" name="그래픽 16" descr="시내 전차 단색으로 채워진">
            <a:extLst>
              <a:ext uri="{FF2B5EF4-FFF2-40B4-BE49-F238E27FC236}">
                <a16:creationId xmlns:a16="http://schemas.microsoft.com/office/drawing/2014/main" id="{9EB9ECC2-D410-BBCE-022C-08A91B82D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1463040"/>
            <a:ext cx="914400" cy="914400"/>
          </a:xfrm>
          <a:prstGeom prst="rect">
            <a:avLst/>
          </a:prstGeom>
        </p:spPr>
      </p:pic>
      <p:pic>
        <p:nvPicPr>
          <p:cNvPr id="19" name="그래픽 18" descr="버스 단색으로 채워진">
            <a:extLst>
              <a:ext uri="{FF2B5EF4-FFF2-40B4-BE49-F238E27FC236}">
                <a16:creationId xmlns:a16="http://schemas.microsoft.com/office/drawing/2014/main" id="{65A7973C-5E09-8BCF-E3FE-D0390D73F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3412" y="1526810"/>
            <a:ext cx="914400" cy="914400"/>
          </a:xfrm>
          <a:prstGeom prst="rect">
            <a:avLst/>
          </a:prstGeom>
        </p:spPr>
      </p:pic>
      <p:pic>
        <p:nvPicPr>
          <p:cNvPr id="21" name="그래픽 20" descr="확성시1 단색으로 채워진">
            <a:extLst>
              <a:ext uri="{FF2B5EF4-FFF2-40B4-BE49-F238E27FC236}">
                <a16:creationId xmlns:a16="http://schemas.microsoft.com/office/drawing/2014/main" id="{3074D5FF-EC52-0B07-7FC3-6DCEC1098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9280" y="1463040"/>
            <a:ext cx="914400" cy="914400"/>
          </a:xfrm>
          <a:prstGeom prst="rect">
            <a:avLst/>
          </a:prstGeom>
        </p:spPr>
      </p:pic>
      <p:pic>
        <p:nvPicPr>
          <p:cNvPr id="23" name="그래픽 22" descr="물음표 단색으로 채워진">
            <a:extLst>
              <a:ext uri="{FF2B5EF4-FFF2-40B4-BE49-F238E27FC236}">
                <a16:creationId xmlns:a16="http://schemas.microsoft.com/office/drawing/2014/main" id="{07F912BC-A201-A3E6-36C4-50397BFDED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7320" y="4526280"/>
            <a:ext cx="6858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B20DAB88-9A04-C70F-B60E-1A1E062AD9FD}"/>
              </a:ext>
            </a:extLst>
          </p:cNvPr>
          <p:cNvSpPr/>
          <p:nvPr/>
        </p:nvSpPr>
        <p:spPr>
          <a:xfrm>
            <a:off x="1" y="280395"/>
            <a:ext cx="7086237" cy="982255"/>
          </a:xfrm>
          <a:custGeom>
            <a:avLst/>
            <a:gdLst>
              <a:gd name="csX0" fmla="*/ 0 w 7086237"/>
              <a:gd name="csY0" fmla="*/ 0 h 982255"/>
              <a:gd name="csX1" fmla="*/ 7086237 w 7086237"/>
              <a:gd name="csY1" fmla="*/ 0 h 982255"/>
              <a:gd name="csX2" fmla="*/ 6595110 w 7086237"/>
              <a:gd name="csY2" fmla="*/ 491127 h 982255"/>
              <a:gd name="csX3" fmla="*/ 7086237 w 7086237"/>
              <a:gd name="csY3" fmla="*/ 982255 h 982255"/>
              <a:gd name="csX4" fmla="*/ 0 w 7086237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86237" h="982255">
                <a:moveTo>
                  <a:pt x="0" y="0"/>
                </a:moveTo>
                <a:lnTo>
                  <a:pt x="7086237" y="0"/>
                </a:lnTo>
                <a:lnTo>
                  <a:pt x="6595110" y="491127"/>
                </a:lnTo>
                <a:lnTo>
                  <a:pt x="7086237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구조: 감지 → 판단 → 재탐색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경로 검색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ODsay로 버스·지하철 환승 경로 목록을 받음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11880" y="169164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3611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점검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GPS, 열차 위치, 첫차·막차 시간을 확인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판단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승차·하차 지점이 막혔는지 구간별로 확인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103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52560" y="146304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81160" y="169164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811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788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없는 경로 추천, 같은 노선 대안, 모두 막히면 재검색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 원리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GPS를 노선의 실제 도로 모양 위에 올려, 노선을 벗어났는지와 지나친 정류장을 계산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지하철은 열차가 찍힌 역의 순서로 무정차 여부를 추정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판단을 시뮬레이션 입력과 실제 감지에 똑같이 적용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API: ODsay 길찾기 · 서울시 버스 정류소·위치 · 서울시 지하철 열차 위치 · 교통공사 첫차·막차 · OpenRouteService 도보 · 카카오 장소 검색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73952571-8402-3705-B11D-47B2B7408FA6}"/>
              </a:ext>
            </a:extLst>
          </p:cNvPr>
          <p:cNvSpPr/>
          <p:nvPr/>
        </p:nvSpPr>
        <p:spPr>
          <a:xfrm>
            <a:off x="0" y="280395"/>
            <a:ext cx="2978166" cy="982255"/>
          </a:xfrm>
          <a:custGeom>
            <a:avLst/>
            <a:gdLst>
              <a:gd name="csX0" fmla="*/ 0 w 2978166"/>
              <a:gd name="csY0" fmla="*/ 0 h 982255"/>
              <a:gd name="csX1" fmla="*/ 2978166 w 2978166"/>
              <a:gd name="csY1" fmla="*/ 0 h 982255"/>
              <a:gd name="csX2" fmla="*/ 2487039 w 2978166"/>
              <a:gd name="csY2" fmla="*/ 491127 h 982255"/>
              <a:gd name="csX3" fmla="*/ 2978166 w 2978166"/>
              <a:gd name="csY3" fmla="*/ 982255 h 982255"/>
              <a:gd name="csX4" fmla="*/ 0 w 2978166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78166" h="982255">
                <a:moveTo>
                  <a:pt x="0" y="0"/>
                </a:moveTo>
                <a:lnTo>
                  <a:pt x="2978166" y="0"/>
                </a:lnTo>
                <a:lnTo>
                  <a:pt x="2487039" y="491127"/>
                </a:lnTo>
                <a:lnTo>
                  <a:pt x="2978166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길찾기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경로 목록과 구간별 안내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요금, 지도 표시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재정렬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승차 지점의 실시간 대기 반영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시간 순서로 다시 정렬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321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노선 대안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31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미정차 정류장 대신 다음 정류장에서 타거나 내림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평소 경로와 나란히 비교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도보 계산과 안내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걷는 길 기준 도보 시간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단계별 길 안내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0" y="402336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무정차·운행 감지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미정차 추정, 지하철 무정차 감지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첫차·막차 시간 반영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3210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사용량 대처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경로·도보 결과를 저장해 재사용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한도 소진·응답 없음 시 직선거리 계산으로 대체</a:t>
            </a:r>
            <a:endParaRPr lang="en-US" sz="1400" dirty="0"/>
          </a:p>
        </p:txBody>
      </p:sp>
      <p:pic>
        <p:nvPicPr>
          <p:cNvPr id="35" name="그래픽 34" descr="한 경로로 두 개 핀 보내기 단색으로 채워진">
            <a:extLst>
              <a:ext uri="{FF2B5EF4-FFF2-40B4-BE49-F238E27FC236}">
                <a16:creationId xmlns:a16="http://schemas.microsoft.com/office/drawing/2014/main" id="{D377A2FC-1A0C-72E8-5188-03FD742BE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8551" y="1452404"/>
            <a:ext cx="770366" cy="770366"/>
          </a:xfrm>
          <a:prstGeom prst="rect">
            <a:avLst/>
          </a:prstGeom>
        </p:spPr>
      </p:pic>
      <p:pic>
        <p:nvPicPr>
          <p:cNvPr id="37" name="그래픽 36" descr="배터리 충전 단색으로 채워진">
            <a:extLst>
              <a:ext uri="{FF2B5EF4-FFF2-40B4-BE49-F238E27FC236}">
                <a16:creationId xmlns:a16="http://schemas.microsoft.com/office/drawing/2014/main" id="{81B9C417-FADE-D594-4D16-F549E8118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8340" y="3866440"/>
            <a:ext cx="741120" cy="741120"/>
          </a:xfrm>
          <a:prstGeom prst="rect">
            <a:avLst/>
          </a:prstGeom>
        </p:spPr>
      </p:pic>
      <p:pic>
        <p:nvPicPr>
          <p:cNvPr id="40" name="그래픽 39" descr="계산기 단색으로 채워진">
            <a:extLst>
              <a:ext uri="{FF2B5EF4-FFF2-40B4-BE49-F238E27FC236}">
                <a16:creationId xmlns:a16="http://schemas.microsoft.com/office/drawing/2014/main" id="{861E57B8-554D-3CDB-A487-9524E5860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8917" y="3807600"/>
            <a:ext cx="764400" cy="764400"/>
          </a:xfrm>
          <a:prstGeom prst="rect">
            <a:avLst/>
          </a:prstGeom>
        </p:spPr>
      </p:pic>
      <p:pic>
        <p:nvPicPr>
          <p:cNvPr id="42" name="그래픽 41" descr="섞기 단색으로 채워진">
            <a:extLst>
              <a:ext uri="{FF2B5EF4-FFF2-40B4-BE49-F238E27FC236}">
                <a16:creationId xmlns:a16="http://schemas.microsoft.com/office/drawing/2014/main" id="{12468788-DC51-B0A5-136D-0153C780A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8940" y="1429180"/>
            <a:ext cx="805740" cy="805740"/>
          </a:xfrm>
          <a:prstGeom prst="rect">
            <a:avLst/>
          </a:prstGeom>
        </p:spPr>
      </p:pic>
      <p:pic>
        <p:nvPicPr>
          <p:cNvPr id="44" name="그래픽 43" descr="돋보기 단색으로 채워진">
            <a:extLst>
              <a:ext uri="{FF2B5EF4-FFF2-40B4-BE49-F238E27FC236}">
                <a16:creationId xmlns:a16="http://schemas.microsoft.com/office/drawing/2014/main" id="{5FB81C2A-AA79-4CEA-7D97-B281C5EB56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430" y="3786580"/>
            <a:ext cx="831140" cy="831140"/>
          </a:xfrm>
          <a:prstGeom prst="rect">
            <a:avLst/>
          </a:prstGeom>
        </p:spPr>
      </p:pic>
      <p:pic>
        <p:nvPicPr>
          <p:cNvPr id="46" name="그래픽 45" descr="화살표가 있는 원 단색으로 채워진">
            <a:extLst>
              <a:ext uri="{FF2B5EF4-FFF2-40B4-BE49-F238E27FC236}">
                <a16:creationId xmlns:a16="http://schemas.microsoft.com/office/drawing/2014/main" id="{70E54B95-BE42-8EB4-B73E-62CE0BB08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9440" y="139446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2F3E4194-304D-353C-AD95-98AC7C8780B8}"/>
              </a:ext>
            </a:extLst>
          </p:cNvPr>
          <p:cNvSpPr/>
          <p:nvPr/>
        </p:nvSpPr>
        <p:spPr>
          <a:xfrm>
            <a:off x="1" y="280395"/>
            <a:ext cx="4057287" cy="982255"/>
          </a:xfrm>
          <a:custGeom>
            <a:avLst/>
            <a:gdLst>
              <a:gd name="csX0" fmla="*/ 0 w 4057287"/>
              <a:gd name="csY0" fmla="*/ 0 h 982255"/>
              <a:gd name="csX1" fmla="*/ 4057287 w 4057287"/>
              <a:gd name="csY1" fmla="*/ 0 h 982255"/>
              <a:gd name="csX2" fmla="*/ 3566160 w 4057287"/>
              <a:gd name="csY2" fmla="*/ 491127 h 982255"/>
              <a:gd name="csX3" fmla="*/ 4057287 w 4057287"/>
              <a:gd name="csY3" fmla="*/ 982255 h 982255"/>
              <a:gd name="csX4" fmla="*/ 0 w 4057287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57287" h="982255">
                <a:moveTo>
                  <a:pt x="0" y="0"/>
                </a:moveTo>
                <a:lnTo>
                  <a:pt x="4057287" y="0"/>
                </a:lnTo>
                <a:lnTo>
                  <a:pt x="3566160" y="491127"/>
                </a:lnTo>
                <a:lnTo>
                  <a:pt x="4057287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미정차 추정 방법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버스: GPS로 노선 이탈 확인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10007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100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노선 모양과 정류장 순서를 ODsay에서 받음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83159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운행 중인 버스의 GPS와 마지막으로 지난 정류장을 받음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56311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20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노선에서 150m(공식 우회) 또는 300m 이상 떨어지면 이탈로 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29463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2858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51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구간에서 건너뛴 정류장을 계산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02615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01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83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1대는 '의심', 2대 이상은 '확인'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지하철: 열차가 찍힌 역 순서로 확인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37960" y="210007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37960" y="2100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열차 위치를 받아 같은 열차를 추적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37960" y="283159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53796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열차가 역 A에서 C로 넘어갈 때 사이의 역 B에 도착·출발 기록이 없음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37960" y="356311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5379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520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B를 통과로 봄. 관측 간격이 4분을 넘으면 판단하지 않음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37960" y="429463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537960" y="4303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251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급행은 원래 일부 역을 건너뛰므로 제외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37960" y="5026152"/>
            <a:ext cx="457200" cy="457200"/>
          </a:xfrm>
          <a:prstGeom prst="ellipse">
            <a:avLst/>
          </a:prstGeom>
          <a:solidFill>
            <a:srgbClr val="1F4FD8"/>
          </a:solidFill>
          <a:ln w="12700">
            <a:solidFill>
              <a:srgbClr val="1F4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37960" y="502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983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이상이 같은 역을 통과하면 '확인'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8640" y="580644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82296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방식 모두 공식 데이터가 아닌 추정이므로, 발표에서는 확정이 아니라 추정 결과로 설명한다.</a:t>
            </a:r>
            <a:endParaRPr lang="en-US" sz="1600" dirty="0"/>
          </a:p>
        </p:txBody>
      </p:sp>
      <p:pic>
        <p:nvPicPr>
          <p:cNvPr id="41" name="그래픽 40" descr="시내 전차 단색으로 채워진">
            <a:extLst>
              <a:ext uri="{FF2B5EF4-FFF2-40B4-BE49-F238E27FC236}">
                <a16:creationId xmlns:a16="http://schemas.microsoft.com/office/drawing/2014/main" id="{A45C0551-79CB-CDFB-F220-BC69B7E3A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3484" y="548640"/>
            <a:ext cx="914400" cy="914400"/>
          </a:xfrm>
          <a:prstGeom prst="rect">
            <a:avLst/>
          </a:prstGeom>
        </p:spPr>
      </p:pic>
      <p:pic>
        <p:nvPicPr>
          <p:cNvPr id="43" name="그래픽 42" descr="버스 단색으로 채워진">
            <a:extLst>
              <a:ext uri="{FF2B5EF4-FFF2-40B4-BE49-F238E27FC236}">
                <a16:creationId xmlns:a16="http://schemas.microsoft.com/office/drawing/2014/main" id="{8A8C7598-EAED-76FD-EDBA-6F6C0EAE77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612" y="685800"/>
            <a:ext cx="914400" cy="914400"/>
          </a:xfrm>
          <a:prstGeom prst="rect">
            <a:avLst/>
          </a:prstGeom>
        </p:spPr>
      </p:pic>
      <p:pic>
        <p:nvPicPr>
          <p:cNvPr id="46" name="그래픽 45" descr="플레이북 단색으로 채워진">
            <a:extLst>
              <a:ext uri="{FF2B5EF4-FFF2-40B4-BE49-F238E27FC236}">
                <a16:creationId xmlns:a16="http://schemas.microsoft.com/office/drawing/2014/main" id="{FD1006DB-0208-E0F8-5968-6DDC9DF04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2132" y="1358760"/>
            <a:ext cx="914400" cy="914400"/>
          </a:xfrm>
          <a:prstGeom prst="rect">
            <a:avLst/>
          </a:prstGeom>
        </p:spPr>
      </p:pic>
      <p:pic>
        <p:nvPicPr>
          <p:cNvPr id="48" name="그래픽 47" descr="세계 단색으로 채워진">
            <a:extLst>
              <a:ext uri="{FF2B5EF4-FFF2-40B4-BE49-F238E27FC236}">
                <a16:creationId xmlns:a16="http://schemas.microsoft.com/office/drawing/2014/main" id="{F0CFAD04-32DB-55DD-7798-7E46B7ED6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8893" y="1430405"/>
            <a:ext cx="796790" cy="796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AA095D75-A329-6CBF-9F17-6736DE394836}"/>
              </a:ext>
            </a:extLst>
          </p:cNvPr>
          <p:cNvSpPr/>
          <p:nvPr/>
        </p:nvSpPr>
        <p:spPr>
          <a:xfrm>
            <a:off x="-1" y="280395"/>
            <a:ext cx="5901736" cy="982255"/>
          </a:xfrm>
          <a:custGeom>
            <a:avLst/>
            <a:gdLst>
              <a:gd name="csX0" fmla="*/ 0 w 5901736"/>
              <a:gd name="csY0" fmla="*/ 0 h 982255"/>
              <a:gd name="csX1" fmla="*/ 5901736 w 5901736"/>
              <a:gd name="csY1" fmla="*/ 0 h 982255"/>
              <a:gd name="csX2" fmla="*/ 5410609 w 5901736"/>
              <a:gd name="csY2" fmla="*/ 491127 h 982255"/>
              <a:gd name="csX3" fmla="*/ 5901736 w 5901736"/>
              <a:gd name="csY3" fmla="*/ 982255 h 982255"/>
              <a:gd name="csX4" fmla="*/ 0 w 5901736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01736" h="982255">
                <a:moveTo>
                  <a:pt x="0" y="0"/>
                </a:moveTo>
                <a:lnTo>
                  <a:pt x="5901736" y="0"/>
                </a:lnTo>
                <a:lnTo>
                  <a:pt x="5410609" y="491127"/>
                </a:lnTo>
                <a:lnTo>
                  <a:pt x="5901736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1: 버스 우회 시나리오</a:t>
            </a:r>
            <a:endParaRPr lang="en-US" sz="34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751D6AD-91DA-579D-A3D6-0DF32FA93E6D}"/>
              </a:ext>
            </a:extLst>
          </p:cNvPr>
          <p:cNvGrpSpPr/>
          <p:nvPr/>
        </p:nvGrpSpPr>
        <p:grpSpPr>
          <a:xfrm>
            <a:off x="915385" y="5317528"/>
            <a:ext cx="2982501" cy="1371600"/>
            <a:chOff x="65062" y="5303521"/>
            <a:chExt cx="2982501" cy="1371600"/>
          </a:xfrm>
        </p:grpSpPr>
        <p:sp>
          <p:nvSpPr>
            <p:cNvPr id="4" name="Shape 2"/>
            <p:cNvSpPr/>
            <p:nvPr/>
          </p:nvSpPr>
          <p:spPr>
            <a:xfrm>
              <a:off x="65062" y="5303521"/>
              <a:ext cx="2982501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339382" y="5413249"/>
              <a:ext cx="265831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1.00 / 1.00</a:t>
              </a:r>
              <a:endParaRPr lang="en-US" sz="30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339382" y="5961889"/>
              <a:ext cx="265831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정밀도 / 재현율</a:t>
              </a:r>
              <a:endParaRPr lang="en-US" sz="14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339382" y="6217921"/>
              <a:ext cx="26583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5B6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가짜 GPS, 정류장 1·3·5곳 미정차 조건, 각 20회 반복</a:t>
              </a:r>
              <a:endParaRPr lang="en-US" sz="1200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A55773F-59CE-09E4-55B7-2AD586965411}"/>
              </a:ext>
            </a:extLst>
          </p:cNvPr>
          <p:cNvGrpSpPr/>
          <p:nvPr/>
        </p:nvGrpSpPr>
        <p:grpSpPr>
          <a:xfrm>
            <a:off x="4443960" y="5317528"/>
            <a:ext cx="2982501" cy="1371600"/>
            <a:chOff x="3132448" y="5303521"/>
            <a:chExt cx="2982501" cy="1371600"/>
          </a:xfrm>
        </p:grpSpPr>
        <p:sp>
          <p:nvSpPr>
            <p:cNvPr id="8" name="Shape 6"/>
            <p:cNvSpPr/>
            <p:nvPr/>
          </p:nvSpPr>
          <p:spPr>
            <a:xfrm>
              <a:off x="3132448" y="5303521"/>
              <a:ext cx="2982501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3371748" y="5440680"/>
              <a:ext cx="265831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0건</a:t>
              </a:r>
              <a:endParaRPr lang="en-US" sz="30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371748" y="6025896"/>
              <a:ext cx="265831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정상 운행 오탐</a:t>
              </a:r>
              <a:endParaRPr lang="en-US" sz="14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3371748" y="6263640"/>
              <a:ext cx="26583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5B6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가짜 GPS 정상 운행 조건, 실제 심야버스 33대 확인</a:t>
              </a:r>
              <a:endParaRPr lang="en-US" sz="12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40E823-F723-EA2A-0ED1-4299B14F4C72}"/>
              </a:ext>
            </a:extLst>
          </p:cNvPr>
          <p:cNvGrpSpPr/>
          <p:nvPr/>
        </p:nvGrpSpPr>
        <p:grpSpPr>
          <a:xfrm>
            <a:off x="7972535" y="5314999"/>
            <a:ext cx="2982501" cy="1371600"/>
            <a:chOff x="6531150" y="5303520"/>
            <a:chExt cx="2982501" cy="1371600"/>
          </a:xfrm>
        </p:grpSpPr>
        <p:sp>
          <p:nvSpPr>
            <p:cNvPr id="12" name="Shape 10"/>
            <p:cNvSpPr/>
            <p:nvPr/>
          </p:nvSpPr>
          <p:spPr>
            <a:xfrm>
              <a:off x="6531150" y="5303520"/>
              <a:ext cx="2982501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805470" y="5413248"/>
              <a:ext cx="265831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24m</a:t>
              </a:r>
              <a:endParaRPr lang="en-US" sz="30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805470" y="5961888"/>
              <a:ext cx="265831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실제 정상 버스 최대 이탈</a:t>
              </a:r>
              <a:endParaRPr lang="en-US" sz="14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805470" y="6217920"/>
              <a:ext cx="265831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5B6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이탈 판정 기준은 150m (공식 우회 노선)</a:t>
              </a:r>
              <a:endParaRPr lang="en-US" sz="1200" dirty="0"/>
            </a:p>
          </p:txBody>
        </p:sp>
      </p:grpSp>
      <p:sp>
        <p:nvSpPr>
          <p:cNvPr id="16" name="Text 14"/>
          <p:cNvSpPr txBox="1"/>
          <p:nvPr/>
        </p:nvSpPr>
        <p:spPr>
          <a:xfrm>
            <a:off x="5699760" y="134494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→ 상명대 (평소: 9호선 → 5호선 → 7016번, 49분)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79988"/>
              </p:ext>
            </p:extLst>
          </p:nvPr>
        </p:nvGraphicFramePr>
        <p:xfrm>
          <a:off x="5699760" y="1847866"/>
          <a:ext cx="6492240" cy="2743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경로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노선 유지 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7016번 중간 정류장(효자동) 미정차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 없음, 평소 경로 유지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7016번 승차 정류장 미정차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9호선 → 163번, +4분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경복궁역 3번 출구 승차, +13분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7016번 우회 (정류장 미확인)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9호선 → 163번, +4분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노선 전체 회피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699760" y="4711495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정류장만 막힌 경우에는 경로를 바꿀 필요가 없다는 점이 핵심이다.</a:t>
            </a:r>
            <a:endParaRPr lang="en-US" sz="15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0619C78-35A2-2A37-5B64-708E2CE6E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4" y="2040225"/>
            <a:ext cx="5416843" cy="243846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6C9B7E6-CEE2-B7A0-8A92-E12CAC704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74" y="2060595"/>
            <a:ext cx="5416843" cy="238803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4899BE2-1EEF-BAB1-DE95-6F3BC6579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74" y="2024019"/>
            <a:ext cx="5416843" cy="2438469"/>
          </a:xfrm>
          <a:prstGeom prst="rect">
            <a:avLst/>
          </a:prstGeom>
        </p:spPr>
      </p:pic>
      <p:pic>
        <p:nvPicPr>
          <p:cNvPr id="32" name="그래픽 31" descr="닫기 단색으로 채워진">
            <a:extLst>
              <a:ext uri="{FF2B5EF4-FFF2-40B4-BE49-F238E27FC236}">
                <a16:creationId xmlns:a16="http://schemas.microsoft.com/office/drawing/2014/main" id="{DEF76D2D-03ED-2F19-6808-A75D372FA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8911" y="5290152"/>
            <a:ext cx="721698" cy="721698"/>
          </a:xfrm>
          <a:prstGeom prst="rect">
            <a:avLst/>
          </a:prstGeom>
        </p:spPr>
      </p:pic>
      <p:pic>
        <p:nvPicPr>
          <p:cNvPr id="34" name="그래픽 33" descr="고정 단색으로 채워진">
            <a:extLst>
              <a:ext uri="{FF2B5EF4-FFF2-40B4-BE49-F238E27FC236}">
                <a16:creationId xmlns:a16="http://schemas.microsoft.com/office/drawing/2014/main" id="{D808020E-4F41-ECFB-B0DF-B7B161D6B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3126001" y="5269879"/>
            <a:ext cx="771990" cy="771990"/>
          </a:xfrm>
          <a:prstGeom prst="rect">
            <a:avLst/>
          </a:prstGeom>
        </p:spPr>
      </p:pic>
      <p:pic>
        <p:nvPicPr>
          <p:cNvPr id="36" name="그래픽 35" descr="자 단색으로 채워진">
            <a:extLst>
              <a:ext uri="{FF2B5EF4-FFF2-40B4-BE49-F238E27FC236}">
                <a16:creationId xmlns:a16="http://schemas.microsoft.com/office/drawing/2014/main" id="{298F7CF9-D287-D3E8-8A94-057777D4F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2936" y="5317528"/>
            <a:ext cx="591492" cy="591492"/>
          </a:xfrm>
          <a:prstGeom prst="rect">
            <a:avLst/>
          </a:prstGeom>
        </p:spPr>
      </p:pic>
      <p:pic>
        <p:nvPicPr>
          <p:cNvPr id="38" name="그래픽 37" descr="버스 단색으로 채워진">
            <a:extLst>
              <a:ext uri="{FF2B5EF4-FFF2-40B4-BE49-F238E27FC236}">
                <a16:creationId xmlns:a16="http://schemas.microsoft.com/office/drawing/2014/main" id="{032EA312-86A2-5D81-68F6-EFA4E2AE1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98480" y="970042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A3A66860-4306-5D3D-1453-D91795A06EEE}"/>
              </a:ext>
            </a:extLst>
          </p:cNvPr>
          <p:cNvSpPr/>
          <p:nvPr/>
        </p:nvSpPr>
        <p:spPr>
          <a:xfrm>
            <a:off x="0" y="280395"/>
            <a:ext cx="6553200" cy="982255"/>
          </a:xfrm>
          <a:custGeom>
            <a:avLst/>
            <a:gdLst>
              <a:gd name="csX0" fmla="*/ 0 w 6553200"/>
              <a:gd name="csY0" fmla="*/ 0 h 982255"/>
              <a:gd name="csX1" fmla="*/ 6553200 w 6553200"/>
              <a:gd name="csY1" fmla="*/ 0 h 982255"/>
              <a:gd name="csX2" fmla="*/ 6553200 w 6553200"/>
              <a:gd name="csY2" fmla="*/ 18687 h 982255"/>
              <a:gd name="csX3" fmla="*/ 6080760 w 6553200"/>
              <a:gd name="csY3" fmla="*/ 491127 h 982255"/>
              <a:gd name="csX4" fmla="*/ 6553200 w 6553200"/>
              <a:gd name="csY4" fmla="*/ 963568 h 982255"/>
              <a:gd name="csX5" fmla="*/ 6553200 w 6553200"/>
              <a:gd name="csY5" fmla="*/ 982255 h 982255"/>
              <a:gd name="csX6" fmla="*/ 0 w 6553200"/>
              <a:gd name="csY6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553200" h="982255">
                <a:moveTo>
                  <a:pt x="0" y="0"/>
                </a:moveTo>
                <a:lnTo>
                  <a:pt x="6553200" y="0"/>
                </a:lnTo>
                <a:lnTo>
                  <a:pt x="6553200" y="18687"/>
                </a:lnTo>
                <a:lnTo>
                  <a:pt x="6080760" y="491127"/>
                </a:lnTo>
                <a:lnTo>
                  <a:pt x="6553200" y="963568"/>
                </a:lnTo>
                <a:lnTo>
                  <a:pt x="6553200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2: 지하철 무정차 시나리오</a:t>
            </a:r>
            <a:endParaRPr lang="en-US" sz="34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CB20CCD-3F8B-3F72-6C53-523B5C8B172F}"/>
              </a:ext>
            </a:extLst>
          </p:cNvPr>
          <p:cNvGrpSpPr/>
          <p:nvPr/>
        </p:nvGrpSpPr>
        <p:grpSpPr>
          <a:xfrm>
            <a:off x="737440" y="5074920"/>
            <a:ext cx="2894951" cy="1371600"/>
            <a:chOff x="548640" y="1371600"/>
            <a:chExt cx="4206240" cy="1371600"/>
          </a:xfrm>
        </p:grpSpPr>
        <p:sp>
          <p:nvSpPr>
            <p:cNvPr id="4" name="Shape 2"/>
            <p:cNvSpPr/>
            <p:nvPr/>
          </p:nvSpPr>
          <p:spPr>
            <a:xfrm>
              <a:off x="548640" y="1371600"/>
              <a:ext cx="4206240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822960" y="1481328"/>
              <a:ext cx="3749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1.00 / 1.00</a:t>
              </a:r>
              <a:endParaRPr lang="en-US" sz="30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822960" y="2029968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정밀도 / 재현율</a:t>
              </a:r>
              <a:endParaRPr lang="en-US" sz="14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822960" y="228600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5B6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가짜 운행, 역 1·2곳 무정차, 각 20회 반복</a:t>
              </a:r>
              <a:endParaRPr lang="en-US" sz="12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5E2E40B-BA8D-D980-8386-6DEC25EF927E}"/>
              </a:ext>
            </a:extLst>
          </p:cNvPr>
          <p:cNvGrpSpPr/>
          <p:nvPr/>
        </p:nvGrpSpPr>
        <p:grpSpPr>
          <a:xfrm>
            <a:off x="4303641" y="5052060"/>
            <a:ext cx="2894951" cy="1371600"/>
            <a:chOff x="548640" y="2926080"/>
            <a:chExt cx="4206240" cy="1371600"/>
          </a:xfrm>
        </p:grpSpPr>
        <p:sp>
          <p:nvSpPr>
            <p:cNvPr id="8" name="Shape 6"/>
            <p:cNvSpPr/>
            <p:nvPr/>
          </p:nvSpPr>
          <p:spPr>
            <a:xfrm>
              <a:off x="548640" y="2926080"/>
              <a:ext cx="4206240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822960" y="3035808"/>
              <a:ext cx="3749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0건</a:t>
              </a:r>
              <a:endParaRPr lang="en-US" sz="30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822960" y="3584448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정상 운행 오탐</a:t>
              </a:r>
              <a:endParaRPr lang="en-US" sz="14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822960" y="384048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5B6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폴링을 2분으로 늘려도 오탐 없음 (가정 기반)</a:t>
              </a:r>
              <a:endParaRPr lang="en-US" sz="12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7BDBBA4-602D-D814-6572-022A1D17524B}"/>
              </a:ext>
            </a:extLst>
          </p:cNvPr>
          <p:cNvGrpSpPr/>
          <p:nvPr/>
        </p:nvGrpSpPr>
        <p:grpSpPr>
          <a:xfrm>
            <a:off x="7869842" y="5052060"/>
            <a:ext cx="2894951" cy="1371600"/>
            <a:chOff x="548640" y="4480560"/>
            <a:chExt cx="4206240" cy="1371600"/>
          </a:xfrm>
        </p:grpSpPr>
        <p:sp>
          <p:nvSpPr>
            <p:cNvPr id="12" name="Shape 10"/>
            <p:cNvSpPr/>
            <p:nvPr/>
          </p:nvSpPr>
          <p:spPr>
            <a:xfrm>
              <a:off x="548640" y="4480560"/>
              <a:ext cx="4206240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822960" y="4590288"/>
              <a:ext cx="3749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20분</a:t>
              </a:r>
              <a:endParaRPr lang="en-US" sz="30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822960" y="5138928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확인까지 걸리는 관측 시간</a:t>
              </a:r>
              <a:endParaRPr lang="en-US" sz="14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22960" y="539496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5B6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배차 3분 기준, 열차 2대가 같은 역을 지나야 확인</a:t>
              </a:r>
              <a:endParaRPr lang="en-US" sz="1200" dirty="0"/>
            </a:p>
          </p:txBody>
        </p:sp>
      </p:grpSp>
      <p:sp>
        <p:nvSpPr>
          <p:cNvPr id="16" name="Text 14"/>
          <p:cNvSpPr txBox="1"/>
          <p:nvPr/>
        </p:nvSpPr>
        <p:spPr>
          <a:xfrm>
            <a:off x="5699760" y="135331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→ 상명대학교 시나리오 (지하철 무정차)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253668"/>
              </p:ext>
            </p:extLst>
          </p:nvPr>
        </p:nvGraphicFramePr>
        <p:xfrm>
          <a:off x="5699760" y="1856232"/>
          <a:ext cx="6492240" cy="2057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경로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노선 유지 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9호선 선유도역(출발역) 무정차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양천01 → 2호선 → 7016번, +5분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9호선 여의도역(환승역) 무정차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9호선 → 163번, +4분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5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국회의사당역 하차, +16분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8FC45D3-5863-EBEB-BA7B-862E5FCF24D6}"/>
              </a:ext>
            </a:extLst>
          </p:cNvPr>
          <p:cNvGrpSpPr/>
          <p:nvPr/>
        </p:nvGrpSpPr>
        <p:grpSpPr>
          <a:xfrm>
            <a:off x="5699760" y="3980704"/>
            <a:ext cx="6492240" cy="925052"/>
            <a:chOff x="5120640" y="4206240"/>
            <a:chExt cx="6492240" cy="1371600"/>
          </a:xfrm>
        </p:grpSpPr>
        <p:sp>
          <p:nvSpPr>
            <p:cNvPr id="18" name="Shape 15"/>
            <p:cNvSpPr/>
            <p:nvPr/>
          </p:nvSpPr>
          <p:spPr>
            <a:xfrm>
              <a:off x="5120640" y="4206240"/>
              <a:ext cx="6492240" cy="1371600"/>
            </a:xfrm>
            <a:prstGeom prst="roundRect">
              <a:avLst>
                <a:gd name="adj" fmla="val 8000"/>
              </a:avLst>
            </a:prstGeom>
            <a:solidFill>
              <a:srgbClr val="DCE6FF"/>
            </a:solidFill>
            <a:ln w="12700">
              <a:solidFill>
                <a:srgbClr val="DCE6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5394960" y="4343400"/>
              <a:ext cx="60350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한계: 실제 무정차 사례로는 아직 확인하지 못했다. 위 수치는 가짜 운행과 정상 운행 데이터에서 얻은 결과다.</a:t>
              </a:r>
              <a:endParaRPr lang="en-US" sz="1500" dirty="0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1E63DDA2-27A3-6BC5-1C5B-DEB310D85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996808"/>
            <a:ext cx="5429250" cy="23904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54DDCBC-E33F-D2C1-9BEA-156B577AC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1975104"/>
            <a:ext cx="5394236" cy="2455164"/>
          </a:xfrm>
          <a:prstGeom prst="rect">
            <a:avLst/>
          </a:prstGeom>
        </p:spPr>
      </p:pic>
      <p:pic>
        <p:nvPicPr>
          <p:cNvPr id="30" name="그래픽 29" descr="스톱워치 75% 단색으로 채워진">
            <a:extLst>
              <a:ext uri="{FF2B5EF4-FFF2-40B4-BE49-F238E27FC236}">
                <a16:creationId xmlns:a16="http://schemas.microsoft.com/office/drawing/2014/main" id="{C62285F3-32F7-7C1F-80F7-048006236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9680" y="4936998"/>
            <a:ext cx="751840" cy="751840"/>
          </a:xfrm>
          <a:prstGeom prst="rect">
            <a:avLst/>
          </a:prstGeom>
        </p:spPr>
      </p:pic>
      <p:pic>
        <p:nvPicPr>
          <p:cNvPr id="32" name="그래픽 31" descr="닫기 단색으로 채워진">
            <a:extLst>
              <a:ext uri="{FF2B5EF4-FFF2-40B4-BE49-F238E27FC236}">
                <a16:creationId xmlns:a16="http://schemas.microsoft.com/office/drawing/2014/main" id="{BCD63ED4-E882-440D-7FD3-D0CCDEFA2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0885" y="5009003"/>
            <a:ext cx="721698" cy="721698"/>
          </a:xfrm>
          <a:prstGeom prst="rect">
            <a:avLst/>
          </a:prstGeom>
        </p:spPr>
      </p:pic>
      <p:pic>
        <p:nvPicPr>
          <p:cNvPr id="34" name="그래픽 33" descr="고정 단색으로 채워진">
            <a:extLst>
              <a:ext uri="{FF2B5EF4-FFF2-40B4-BE49-F238E27FC236}">
                <a16:creationId xmlns:a16="http://schemas.microsoft.com/office/drawing/2014/main" id="{7A094474-452A-B891-4251-162DA52EA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2847975" y="4988730"/>
            <a:ext cx="771990" cy="771990"/>
          </a:xfrm>
          <a:prstGeom prst="rect">
            <a:avLst/>
          </a:prstGeom>
        </p:spPr>
      </p:pic>
      <p:pic>
        <p:nvPicPr>
          <p:cNvPr id="38" name="그래픽 37" descr="시내 전차 단색으로 채워진">
            <a:extLst>
              <a:ext uri="{FF2B5EF4-FFF2-40B4-BE49-F238E27FC236}">
                <a16:creationId xmlns:a16="http://schemas.microsoft.com/office/drawing/2014/main" id="{C91B1BB3-DC80-75C0-CD5F-4A1D23318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0" y="100584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5E349836-461D-9A4D-4BF2-14FACC2D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178"/>
          <a:stretch>
            <a:fillRect/>
          </a:stretch>
        </p:blipFill>
        <p:spPr>
          <a:xfrm>
            <a:off x="8839669" y="949420"/>
            <a:ext cx="3168981" cy="5131340"/>
          </a:xfrm>
          <a:prstGeom prst="rect">
            <a:avLst/>
          </a:prstGeom>
        </p:spPr>
      </p:pic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0832E092-DCAA-FA9B-D7D6-AE4426F0D443}"/>
              </a:ext>
            </a:extLst>
          </p:cNvPr>
          <p:cNvSpPr/>
          <p:nvPr/>
        </p:nvSpPr>
        <p:spPr>
          <a:xfrm>
            <a:off x="-1" y="280395"/>
            <a:ext cx="4328809" cy="982255"/>
          </a:xfrm>
          <a:custGeom>
            <a:avLst/>
            <a:gdLst>
              <a:gd name="csX0" fmla="*/ 0 w 4328809"/>
              <a:gd name="csY0" fmla="*/ 0 h 982255"/>
              <a:gd name="csX1" fmla="*/ 4328809 w 4328809"/>
              <a:gd name="csY1" fmla="*/ 0 h 982255"/>
              <a:gd name="csX2" fmla="*/ 4328809 w 4328809"/>
              <a:gd name="csY2" fmla="*/ 5717 h 982255"/>
              <a:gd name="csX3" fmla="*/ 4308748 w 4328809"/>
              <a:gd name="csY3" fmla="*/ 5717 h 982255"/>
              <a:gd name="csX4" fmla="*/ 3817621 w 4328809"/>
              <a:gd name="csY4" fmla="*/ 496844 h 982255"/>
              <a:gd name="csX5" fmla="*/ 4303031 w 4328809"/>
              <a:gd name="csY5" fmla="*/ 982255 h 982255"/>
              <a:gd name="csX6" fmla="*/ 0 w 4328809"/>
              <a:gd name="csY6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28809" h="982255">
                <a:moveTo>
                  <a:pt x="0" y="0"/>
                </a:moveTo>
                <a:lnTo>
                  <a:pt x="4328809" y="0"/>
                </a:lnTo>
                <a:lnTo>
                  <a:pt x="4328809" y="5717"/>
                </a:lnTo>
                <a:lnTo>
                  <a:pt x="4308748" y="5717"/>
                </a:lnTo>
                <a:lnTo>
                  <a:pt x="3817621" y="496844"/>
                </a:lnTo>
                <a:lnTo>
                  <a:pt x="4303031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핸드폰 접속 방법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노트북 충전, 절전 해제, 주소는 실행할 때마다 바뀜</a:t>
            </a:r>
            <a:endParaRPr lang="en-US" sz="13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186A7EA-B450-3B85-02D6-F5BEEE6CD842}"/>
              </a:ext>
            </a:extLst>
          </p:cNvPr>
          <p:cNvGrpSpPr/>
          <p:nvPr/>
        </p:nvGrpSpPr>
        <p:grpSpPr>
          <a:xfrm>
            <a:off x="373541" y="1286782"/>
            <a:ext cx="8108977" cy="2820723"/>
            <a:chOff x="373541" y="3186157"/>
            <a:chExt cx="8108977" cy="2820723"/>
          </a:xfrm>
        </p:grpSpPr>
        <p:sp>
          <p:nvSpPr>
            <p:cNvPr id="7" name="Shape 5"/>
            <p:cNvSpPr/>
            <p:nvPr/>
          </p:nvSpPr>
          <p:spPr>
            <a:xfrm>
              <a:off x="373541" y="3373015"/>
              <a:ext cx="8108977" cy="2633865"/>
            </a:xfrm>
            <a:prstGeom prst="roundRect">
              <a:avLst>
                <a:gd name="adj" fmla="val 2449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865348" y="3561784"/>
              <a:ext cx="4663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사용 방법 (Cloudflare Quick Tunnel)</a:t>
              </a:r>
              <a:endParaRPr lang="en-US" sz="2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73908" y="3947641"/>
              <a:ext cx="457200" cy="457200"/>
            </a:xfrm>
            <a:prstGeom prst="ellipse">
              <a:avLst/>
            </a:prstGeom>
            <a:solidFill>
              <a:srgbClr val="1F4FD8"/>
            </a:solidFill>
            <a:ln w="12700">
              <a:solidFill>
                <a:srgbClr val="1F4FD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773908" y="3973407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322548" y="3856201"/>
              <a:ext cx="4114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실행.bat으로 앱 실행 (localhost:8501)</a:t>
              </a:r>
              <a:endParaRPr lang="en-US" sz="15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773908" y="4457379"/>
              <a:ext cx="457200" cy="457200"/>
            </a:xfrm>
            <a:prstGeom prst="ellipse">
              <a:avLst/>
            </a:prstGeom>
            <a:solidFill>
              <a:srgbClr val="1F4FD8"/>
            </a:solidFill>
            <a:ln w="12700">
              <a:solidFill>
                <a:srgbClr val="1F4FD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773908" y="444975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1322548" y="4373216"/>
              <a:ext cx="477345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cloudflared tunnel --url http://localhost:8501 실행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73908" y="4967511"/>
              <a:ext cx="457200" cy="457200"/>
            </a:xfrm>
            <a:prstGeom prst="ellipse">
              <a:avLst/>
            </a:prstGeom>
            <a:solidFill>
              <a:srgbClr val="1F4FD8"/>
            </a:solidFill>
            <a:ln w="12700">
              <a:solidFill>
                <a:srgbClr val="1F4FD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773908" y="495120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1322548" y="4895429"/>
              <a:ext cx="4114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출력된 trycloudflare.com 주소를 핸드폰에서 열기</a:t>
              </a:r>
              <a:endParaRPr lang="en-US" sz="15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73908" y="5464314"/>
              <a:ext cx="457200" cy="457200"/>
            </a:xfrm>
            <a:prstGeom prst="ellipse">
              <a:avLst/>
            </a:prstGeom>
            <a:solidFill>
              <a:srgbClr val="1F4FD8"/>
            </a:solidFill>
            <a:ln w="12700">
              <a:solidFill>
                <a:srgbClr val="1F4FD8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773908" y="546431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5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322548" y="5337414"/>
              <a:ext cx="4114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시연 후 두 창에서 Ctrl+C로 종료</a:t>
              </a:r>
              <a:endParaRPr lang="en-US" sz="1500" dirty="0"/>
            </a:p>
          </p:txBody>
        </p:sp>
        <p:pic>
          <p:nvPicPr>
            <p:cNvPr id="23" name="그래픽 22" descr="스마트폰 단색으로 채워진">
              <a:extLst>
                <a:ext uri="{FF2B5EF4-FFF2-40B4-BE49-F238E27FC236}">
                  <a16:creationId xmlns:a16="http://schemas.microsoft.com/office/drawing/2014/main" id="{E8763012-4844-025F-A7CB-F6DF42781F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84394" y="3186157"/>
              <a:ext cx="807738" cy="807738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ED74831-82F2-0F31-56AB-BA7DEACD47F6}"/>
              </a:ext>
            </a:extLst>
          </p:cNvPr>
          <p:cNvGrpSpPr/>
          <p:nvPr/>
        </p:nvGrpSpPr>
        <p:grpSpPr>
          <a:xfrm>
            <a:off x="373540" y="4215128"/>
            <a:ext cx="8108977" cy="1773119"/>
            <a:chOff x="373541" y="1434576"/>
            <a:chExt cx="8108977" cy="1773119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8B720AE-A959-D125-A709-3C21BB99AB0F}"/>
                </a:ext>
              </a:extLst>
            </p:cNvPr>
            <p:cNvGrpSpPr/>
            <p:nvPr/>
          </p:nvGrpSpPr>
          <p:grpSpPr>
            <a:xfrm>
              <a:off x="373541" y="1463040"/>
              <a:ext cx="8108977" cy="1744655"/>
              <a:chOff x="548640" y="1371600"/>
              <a:chExt cx="5303520" cy="2221992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548640" y="1371600"/>
                <a:ext cx="5303520" cy="2221992"/>
              </a:xfrm>
              <a:prstGeom prst="roundRect">
                <a:avLst>
                  <a:gd name="adj" fmla="val 2449"/>
                </a:avLst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  <a:effectLst>
                <a:outerShdw blurRad="76200" dist="25400" dir="54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 3"/>
              <p:cNvSpPr txBox="1"/>
              <p:nvPr/>
            </p:nvSpPr>
            <p:spPr>
              <a:xfrm>
                <a:off x="868680" y="1600200"/>
                <a:ext cx="46634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1F4FD8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이 방법을 택한 이유</a:t>
                </a:r>
                <a:endParaRPr lang="en-US" sz="2000" dirty="0"/>
              </a:p>
            </p:txBody>
          </p:sp>
          <p:sp>
            <p:nvSpPr>
              <p:cNvPr id="6" name="Text 4"/>
              <p:cNvSpPr txBox="1"/>
              <p:nvPr/>
            </p:nvSpPr>
            <p:spPr>
              <a:xfrm>
                <a:off x="868680" y="2194560"/>
                <a:ext cx="4663440" cy="1234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B2540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무료이고 계정이나 도메인이 필요 없음</a:t>
                </a:r>
                <a:endParaRPr lang="en-US" sz="160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B2540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클라우드 배포는 ODsay 키가 등록된 공인 IP만 허용해서 막힘 (고정 IP는 대개 유료)</a:t>
                </a:r>
                <a:endParaRPr lang="en-US" sz="1600" dirty="0"/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B2540"/>
                    </a:solidFill>
                    <a:latin typeface="Pretendard" pitchFamily="34" charset="0"/>
                    <a:ea typeface="Pretendard" pitchFamily="34" charset="-122"/>
                    <a:cs typeface="Pretendard" pitchFamily="34" charset="-120"/>
                  </a:rPr>
                  <a:t>노트북에서 실행하므로 LTE에서도 접속 가능</a:t>
                </a:r>
                <a:endParaRPr lang="en-US" sz="1600" dirty="0"/>
              </a:p>
            </p:txBody>
          </p:sp>
        </p:grpSp>
        <p:pic>
          <p:nvPicPr>
            <p:cNvPr id="25" name="그래픽 24" descr="물음표 단색으로 채워진">
              <a:extLst>
                <a:ext uri="{FF2B5EF4-FFF2-40B4-BE49-F238E27FC236}">
                  <a16:creationId xmlns:a16="http://schemas.microsoft.com/office/drawing/2014/main" id="{EEF1DC07-266B-CABE-45F9-18194A833F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99692" y="1434576"/>
              <a:ext cx="652640" cy="65264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5D06E6D2-AC09-8C21-0F9C-A0798B98C7E5}"/>
              </a:ext>
            </a:extLst>
          </p:cNvPr>
          <p:cNvSpPr/>
          <p:nvPr/>
        </p:nvSpPr>
        <p:spPr>
          <a:xfrm>
            <a:off x="1" y="280395"/>
            <a:ext cx="2180497" cy="982255"/>
          </a:xfrm>
          <a:custGeom>
            <a:avLst/>
            <a:gdLst>
              <a:gd name="csX0" fmla="*/ 0 w 2180497"/>
              <a:gd name="csY0" fmla="*/ 0 h 982255"/>
              <a:gd name="csX1" fmla="*/ 2180497 w 2180497"/>
              <a:gd name="csY1" fmla="*/ 0 h 982255"/>
              <a:gd name="csX2" fmla="*/ 1689370 w 2180497"/>
              <a:gd name="csY2" fmla="*/ 491127 h 982255"/>
              <a:gd name="csX3" fmla="*/ 2180497 w 2180497"/>
              <a:gd name="csY3" fmla="*/ 982255 h 982255"/>
              <a:gd name="csX4" fmla="*/ 0 w 2180497"/>
              <a:gd name="csY4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80497" h="982255">
                <a:moveTo>
                  <a:pt x="0" y="0"/>
                </a:moveTo>
                <a:lnTo>
                  <a:pt x="2180497" y="0"/>
                </a:lnTo>
                <a:lnTo>
                  <a:pt x="1689370" y="491127"/>
                </a:lnTo>
                <a:lnTo>
                  <a:pt x="2180497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홍대입구역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국회의사당역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3520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우회할 버스 정류장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6713번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홍대입구역 정류장 미정차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32918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83680" y="3520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무정차 지하철 역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2호선 홍대입구역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무정차 통과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628A0B43-23E4-F9CE-CEB9-6D203BA50B56}"/>
              </a:ext>
            </a:extLst>
          </p:cNvPr>
          <p:cNvSpPr/>
          <p:nvPr/>
        </p:nvSpPr>
        <p:spPr>
          <a:xfrm>
            <a:off x="0" y="280395"/>
            <a:ext cx="4523362" cy="982255"/>
          </a:xfrm>
          <a:custGeom>
            <a:avLst/>
            <a:gdLst>
              <a:gd name="csX0" fmla="*/ 0 w 4523362"/>
              <a:gd name="csY0" fmla="*/ 0 h 982255"/>
              <a:gd name="csX1" fmla="*/ 4486277 w 4523362"/>
              <a:gd name="csY1" fmla="*/ 0 h 982255"/>
              <a:gd name="csX2" fmla="*/ 4000500 w 4523362"/>
              <a:gd name="csY2" fmla="*/ 485777 h 982255"/>
              <a:gd name="csX3" fmla="*/ 4491627 w 4523362"/>
              <a:gd name="csY3" fmla="*/ 976905 h 982255"/>
              <a:gd name="csX4" fmla="*/ 4523362 w 4523362"/>
              <a:gd name="csY4" fmla="*/ 976905 h 982255"/>
              <a:gd name="csX5" fmla="*/ 4523362 w 4523362"/>
              <a:gd name="csY5" fmla="*/ 982255 h 982255"/>
              <a:gd name="csX6" fmla="*/ 0 w 4523362"/>
              <a:gd name="csY6" fmla="*/ 982255 h 9822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23362" h="982255">
                <a:moveTo>
                  <a:pt x="0" y="0"/>
                </a:moveTo>
                <a:lnTo>
                  <a:pt x="4486277" y="0"/>
                </a:lnTo>
                <a:lnTo>
                  <a:pt x="4000500" y="485777"/>
                </a:lnTo>
                <a:lnTo>
                  <a:pt x="4491627" y="976905"/>
                </a:lnTo>
                <a:lnTo>
                  <a:pt x="4523362" y="976905"/>
                </a:lnTo>
                <a:lnTo>
                  <a:pt x="4523362" y="982255"/>
                </a:lnTo>
                <a:lnTo>
                  <a:pt x="0" y="982255"/>
                </a:lnTo>
                <a:close/>
              </a:path>
            </a:pathLst>
          </a:custGeom>
          <a:solidFill>
            <a:srgbClr val="FFF4BF"/>
          </a:solidFill>
          <a:ln w="28575">
            <a:solidFill>
              <a:srgbClr val="DC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1042416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계획</a:t>
            </a:r>
            <a:endParaRPr lang="en-US" sz="34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2E42205-E304-7457-EBAC-FC67E10F6A80}"/>
              </a:ext>
            </a:extLst>
          </p:cNvPr>
          <p:cNvGrpSpPr/>
          <p:nvPr/>
        </p:nvGrpSpPr>
        <p:grpSpPr>
          <a:xfrm>
            <a:off x="548640" y="1371600"/>
            <a:ext cx="5394960" cy="4572000"/>
            <a:chOff x="548640" y="1371600"/>
            <a:chExt cx="5394960" cy="4572000"/>
          </a:xfrm>
        </p:grpSpPr>
        <p:sp>
          <p:nvSpPr>
            <p:cNvPr id="4" name="Shape 2"/>
            <p:cNvSpPr/>
            <p:nvPr/>
          </p:nvSpPr>
          <p:spPr>
            <a:xfrm>
              <a:off x="548640" y="1371600"/>
              <a:ext cx="5394960" cy="4572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868680" y="1600200"/>
              <a:ext cx="4754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한계</a:t>
              </a:r>
              <a:endParaRPr lang="en-US" sz="28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868680" y="2194560"/>
              <a:ext cx="4846320" cy="3566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실제 무정차 사례로는 </a:t>
              </a:r>
              <a:r>
                <a:rPr lang="en-US" dirty="0" err="1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확인하지</a:t>
              </a:r>
              <a:r>
                <a:rPr lang="en-US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dirty="0" err="1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못함</a:t>
              </a:r>
              <a:endParaRPr lang="en-US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 err="1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실시간</a:t>
              </a:r>
              <a:r>
                <a:rPr lang="en-US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대기 시간은 첫 승차 지점만 반영하고, 환승 지점은 계획 시간을 씀</a:t>
              </a:r>
              <a:endParaRPr lang="en-US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 err="1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API에</a:t>
              </a:r>
              <a:r>
                <a:rPr lang="en-US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무료 일일 호출 한도가 있음</a:t>
              </a:r>
              <a:endParaRPr lang="en-US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 err="1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핸드폰</a:t>
              </a:r>
              <a:r>
                <a:rPr lang="en-US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접속(Cloudflare Tunnel)은 노트북이 켜져 있고 인터넷에 연결되어 있어야 하며, 절전 모드에서는 끊김</a:t>
              </a:r>
              <a:endParaRPr lang="en-US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370ABF-0DB0-9C42-AFD1-8A69E9A92C26}"/>
              </a:ext>
            </a:extLst>
          </p:cNvPr>
          <p:cNvGrpSpPr/>
          <p:nvPr/>
        </p:nvGrpSpPr>
        <p:grpSpPr>
          <a:xfrm>
            <a:off x="6217920" y="1302361"/>
            <a:ext cx="5394960" cy="2296873"/>
            <a:chOff x="6217920" y="1302361"/>
            <a:chExt cx="5394960" cy="2296873"/>
          </a:xfrm>
        </p:grpSpPr>
        <p:sp>
          <p:nvSpPr>
            <p:cNvPr id="7" name="Shape 5"/>
            <p:cNvSpPr/>
            <p:nvPr/>
          </p:nvSpPr>
          <p:spPr>
            <a:xfrm>
              <a:off x="6217920" y="1371600"/>
              <a:ext cx="5394960" cy="2227634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6537960" y="1600200"/>
              <a:ext cx="4754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F4FD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향후 계획</a:t>
              </a:r>
              <a:endParaRPr lang="en-US" sz="28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6537960" y="2194560"/>
              <a:ext cx="48463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환승 지점까지 실시간 대기 반영</a:t>
              </a:r>
              <a:endParaRPr lang="en-US" sz="16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4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600" dirty="0" err="1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탄소</a:t>
              </a:r>
              <a:r>
                <a:rPr lang="en-US" sz="1600" dirty="0">
                  <a:solidFill>
                    <a:srgbClr val="1B254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비교: 우회 선택지별 "시간 +N분, 탄소 ±N g" 표시 (공식 배출계수 사용)</a:t>
              </a:r>
              <a:endParaRPr lang="en-US" sz="1600" dirty="0"/>
            </a:p>
          </p:txBody>
        </p:sp>
        <p:pic>
          <p:nvPicPr>
            <p:cNvPr id="11" name="그래픽 10" descr="청사진 단색으로 채워진">
              <a:extLst>
                <a:ext uri="{FF2B5EF4-FFF2-40B4-BE49-F238E27FC236}">
                  <a16:creationId xmlns:a16="http://schemas.microsoft.com/office/drawing/2014/main" id="{5C97B8FC-69C7-9331-44D1-58C8D0E070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24799" y="1302361"/>
              <a:ext cx="823619" cy="823619"/>
            </a:xfrm>
            <a:prstGeom prst="rect">
              <a:avLst/>
            </a:prstGeom>
          </p:spPr>
        </p:pic>
      </p:grpSp>
      <p:pic>
        <p:nvPicPr>
          <p:cNvPr id="13" name="그래픽 12" descr="배터리 부족 단색으로 채워진">
            <a:extLst>
              <a:ext uri="{FF2B5EF4-FFF2-40B4-BE49-F238E27FC236}">
                <a16:creationId xmlns:a16="http://schemas.microsoft.com/office/drawing/2014/main" id="{B90C349B-122C-B949-FB59-C6954D870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9200" y="1302361"/>
            <a:ext cx="961439" cy="961439"/>
          </a:xfrm>
          <a:prstGeom prst="rect">
            <a:avLst/>
          </a:prstGeom>
        </p:spPr>
      </p:pic>
      <p:pic>
        <p:nvPicPr>
          <p:cNvPr id="32" name="그래픽 31" descr="테이블 램프, 책, 펜 및 연필이 있는 책 공개">
            <a:extLst>
              <a:ext uri="{FF2B5EF4-FFF2-40B4-BE49-F238E27FC236}">
                <a16:creationId xmlns:a16="http://schemas.microsoft.com/office/drawing/2014/main" id="{12ED6229-1BE5-6D23-A5B4-B9C92F901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9545" y="2225040"/>
            <a:ext cx="5171710" cy="5171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4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시 지도의 로케이터 플래그">
            <a:extLst>
              <a:ext uri="{FF2B5EF4-FFF2-40B4-BE49-F238E27FC236}">
                <a16:creationId xmlns:a16="http://schemas.microsoft.com/office/drawing/2014/main" id="{DB9A2C90-0EC0-2B62-A849-0069B79E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5" t="28" r="4819"/>
          <a:stretch>
            <a:fillRect/>
          </a:stretch>
        </p:blipFill>
        <p:spPr>
          <a:xfrm>
            <a:off x="823447" y="1946"/>
            <a:ext cx="10602662" cy="6856054"/>
          </a:xfrm>
          <a:custGeom>
            <a:avLst/>
            <a:gdLst>
              <a:gd name="csX0" fmla="*/ 1714013 w 10602662"/>
              <a:gd name="csY0" fmla="*/ 0 h 6856054"/>
              <a:gd name="csX1" fmla="*/ 10602662 w 10602662"/>
              <a:gd name="csY1" fmla="*/ 0 h 6856054"/>
              <a:gd name="csX2" fmla="*/ 8888648 w 10602662"/>
              <a:gd name="csY2" fmla="*/ 6856054 h 6856054"/>
              <a:gd name="csX3" fmla="*/ 0 w 10602662"/>
              <a:gd name="csY3" fmla="*/ 6856054 h 68560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02662" h="6856054">
                <a:moveTo>
                  <a:pt x="1714013" y="0"/>
                </a:moveTo>
                <a:lnTo>
                  <a:pt x="10602662" y="0"/>
                </a:lnTo>
                <a:lnTo>
                  <a:pt x="8888648" y="6856054"/>
                </a:lnTo>
                <a:lnTo>
                  <a:pt x="0" y="6856054"/>
                </a:lnTo>
                <a:close/>
              </a:path>
            </a:pathLst>
          </a:custGeom>
        </p:spPr>
      </p:pic>
      <p:sp>
        <p:nvSpPr>
          <p:cNvPr id="2" name="Text 0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F4F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B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들어주셔서 감사합니다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5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202410927 오시은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1210</Words>
  <Application>Microsoft Office PowerPoint</Application>
  <PresentationFormat>와이드스크린</PresentationFormat>
  <Paragraphs>266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우회 길찾기</dc:title>
  <dc:subject>PptxGenJS Presentation</dc:subject>
  <dc:creator>오시은</dc:creator>
  <cp:lastModifiedBy>오시은</cp:lastModifiedBy>
  <cp:revision>8</cp:revision>
  <dcterms:created xsi:type="dcterms:W3CDTF">2026-10-18T16:46:11Z</dcterms:created>
  <dcterms:modified xsi:type="dcterms:W3CDTF">2026-10-19T16:47:20Z</dcterms:modified>
</cp:coreProperties>
</file>